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69"/>
    <p:restoredTop sz="94704"/>
  </p:normalViewPr>
  <p:slideViewPr>
    <p:cSldViewPr snapToGrid="0" snapToObjects="1">
      <p:cViewPr varScale="1">
        <p:scale>
          <a:sx n="244" d="100"/>
          <a:sy n="244" d="100"/>
        </p:scale>
        <p:origin x="272"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A8DFB5-048F-8C46-B5B4-21E8CCDB0702}" type="datetimeFigureOut">
              <a:rPr lang="en-US" smtClean="0"/>
              <a:t>3/24/22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11CF74-ED2C-0940-980F-6683CCE93B6E}" type="slidenum">
              <a:rPr lang="en-US" smtClean="0"/>
              <a:t>‹#›</a:t>
            </a:fld>
            <a:endParaRPr lang="en-US"/>
          </a:p>
        </p:txBody>
      </p:sp>
    </p:spTree>
    <p:extLst>
      <p:ext uri="{BB962C8B-B14F-4D97-AF65-F5344CB8AC3E}">
        <p14:creationId xmlns:p14="http://schemas.microsoft.com/office/powerpoint/2010/main" val="1339468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29559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9254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3370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3320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1172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2639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7305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3755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3528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1316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9952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6701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1591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923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4a4e9d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04a4e9df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038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79D8C44-0DCE-4346-B032-87A57FBE94E0}" type="datetimeFigureOut">
              <a:rPr lang="en-US" smtClean="0"/>
              <a:t>3/24/22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112261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9D8C44-0DCE-4346-B032-87A57FBE94E0}" type="datetimeFigureOut">
              <a:rPr lang="en-US" smtClean="0"/>
              <a:t>3/24/22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220219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79D8C44-0DCE-4346-B032-87A57FBE94E0}" type="datetimeFigureOut">
              <a:rPr lang="en-US" smtClean="0"/>
              <a:t>3/24/22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4044213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79D8C44-0DCE-4346-B032-87A57FBE94E0}" type="datetimeFigureOut">
              <a:rPr lang="en-US" smtClean="0"/>
              <a:t>3/24/22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596747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79D8C44-0DCE-4346-B032-87A57FBE94E0}" type="datetimeFigureOut">
              <a:rPr lang="en-US" smtClean="0"/>
              <a:t>3/24/22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699192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79D8C44-0DCE-4346-B032-87A57FBE94E0}" type="datetimeFigureOut">
              <a:rPr lang="en-US" smtClean="0"/>
              <a:t>3/24/22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43852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9D8C44-0DCE-4346-B032-87A57FBE94E0}" type="datetimeFigureOut">
              <a:rPr lang="en-US" smtClean="0"/>
              <a:t>3/24/22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67335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79D8C44-0DCE-4346-B032-87A57FBE94E0}" type="datetimeFigureOut">
              <a:rPr lang="en-US" smtClean="0"/>
              <a:t>3/24/22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270555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79D8C44-0DCE-4346-B032-87A57FBE94E0}" type="datetimeFigureOut">
              <a:rPr lang="en-US" smtClean="0"/>
              <a:t>3/24/22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13061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9D8C44-0DCE-4346-B032-87A57FBE94E0}" type="datetimeFigureOut">
              <a:rPr lang="en-US" smtClean="0"/>
              <a:t>3/24/22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3402886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9D8C44-0DCE-4346-B032-87A57FBE94E0}" type="datetimeFigureOut">
              <a:rPr lang="en-US" smtClean="0"/>
              <a:t>3/24/22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8521F-54BB-A74D-87FE-F5108AF36E25}" type="slidenum">
              <a:rPr lang="en-US" smtClean="0"/>
              <a:t>‹#›</a:t>
            </a:fld>
            <a:endParaRPr lang="en-US"/>
          </a:p>
        </p:txBody>
      </p:sp>
    </p:spTree>
    <p:extLst>
      <p:ext uri="{BB962C8B-B14F-4D97-AF65-F5344CB8AC3E}">
        <p14:creationId xmlns:p14="http://schemas.microsoft.com/office/powerpoint/2010/main" val="2232362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9D8C44-0DCE-4346-B032-87A57FBE94E0}" type="datetimeFigureOut">
              <a:rPr lang="en-US" smtClean="0"/>
              <a:t>3/24/22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B8521F-54BB-A74D-87FE-F5108AF36E25}" type="slidenum">
              <a:rPr lang="en-US" smtClean="0"/>
              <a:t>‹#›</a:t>
            </a:fld>
            <a:endParaRPr lang="en-US"/>
          </a:p>
        </p:txBody>
      </p:sp>
    </p:spTree>
    <p:extLst>
      <p:ext uri="{BB962C8B-B14F-4D97-AF65-F5344CB8AC3E}">
        <p14:creationId xmlns:p14="http://schemas.microsoft.com/office/powerpoint/2010/main" val="20922987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65759" y="-1341491"/>
            <a:ext cx="12035100" cy="4307700"/>
          </a:xfrm>
          <a:prstGeom prst="rect">
            <a:avLst/>
          </a:prstGeom>
          <a:noFill/>
          <a:ln>
            <a:noFill/>
          </a:ln>
        </p:spPr>
        <p:txBody>
          <a:bodyPr spcFirstLastPara="1" wrap="square" lIns="91425" tIns="45700" rIns="91425" bIns="45700" anchor="b" anchorCtr="0">
            <a:normAutofit/>
          </a:bodyPr>
          <a:lstStyle/>
          <a:p>
            <a:pPr marL="0" lvl="0" indent="0" rtl="0">
              <a:lnSpc>
                <a:spcPct val="90000"/>
              </a:lnSpc>
              <a:spcBef>
                <a:spcPts val="0"/>
              </a:spcBef>
              <a:spcAft>
                <a:spcPts val="0"/>
              </a:spcAft>
              <a:buClr>
                <a:schemeClr val="lt1"/>
              </a:buClr>
              <a:buSzPts val="3600"/>
              <a:buFont typeface="Consolas"/>
              <a:buNone/>
            </a:pPr>
            <a:r>
              <a:rPr lang="en-US" sz="4800" b="1" i="0" u="sng" dirty="0">
                <a:highlight>
                  <a:srgbClr val="0000FF"/>
                </a:highlight>
                <a:latin typeface="Consolas"/>
                <a:ea typeface="Consolas"/>
                <a:cs typeface="Consolas"/>
                <a:sym typeface="Consolas"/>
              </a:rPr>
              <a:t>Seminar: CAPTCHA</a:t>
            </a:r>
            <a:endParaRPr sz="4800" dirty="0"/>
          </a:p>
        </p:txBody>
      </p:sp>
      <p:sp>
        <p:nvSpPr>
          <p:cNvPr id="61" name="Google Shape;61;p14"/>
          <p:cNvSpPr txBox="1">
            <a:spLocks noGrp="1"/>
          </p:cNvSpPr>
          <p:nvPr>
            <p:ph type="subTitle" idx="1"/>
          </p:nvPr>
        </p:nvSpPr>
        <p:spPr>
          <a:xfrm>
            <a:off x="0" y="87752"/>
            <a:ext cx="3279531" cy="457200"/>
          </a:xfrm>
          <a:prstGeom prst="rect">
            <a:avLst/>
          </a:prstGeom>
          <a:noFill/>
          <a:ln>
            <a:noFill/>
          </a:ln>
        </p:spPr>
        <p:txBody>
          <a:bodyPr spcFirstLastPara="1" wrap="square" lIns="91425" tIns="45700" rIns="91425" bIns="45700" anchor="t" anchorCtr="0">
            <a:normAutofit fontScale="85000" lnSpcReduction="20000"/>
          </a:bodyPr>
          <a:lstStyle/>
          <a:p>
            <a:pPr marL="0" lvl="0" indent="0" algn="ctr" rtl="0">
              <a:lnSpc>
                <a:spcPct val="90000"/>
              </a:lnSpc>
              <a:spcBef>
                <a:spcPts val="0"/>
              </a:spcBef>
              <a:spcAft>
                <a:spcPts val="0"/>
              </a:spcAft>
              <a:buClr>
                <a:schemeClr val="lt1"/>
              </a:buClr>
              <a:buSzPct val="100000"/>
              <a:buNone/>
            </a:pPr>
            <a:r>
              <a:rPr lang="en-US" sz="4000" u="sng" dirty="0">
                <a:solidFill>
                  <a:schemeClr val="tx1"/>
                </a:solidFill>
                <a:latin typeface="Consolas"/>
                <a:ea typeface="Consolas"/>
                <a:cs typeface="Consolas"/>
                <a:sym typeface="Consolas"/>
              </a:rPr>
              <a:t>Introduction</a:t>
            </a:r>
            <a:endParaRPr sz="4000" u="sng" dirty="0">
              <a:solidFill>
                <a:schemeClr val="tx1"/>
              </a:solidFill>
              <a:latin typeface="Consolas"/>
              <a:ea typeface="Consolas"/>
              <a:cs typeface="Consolas"/>
              <a:sym typeface="Consolas"/>
            </a:endParaRPr>
          </a:p>
        </p:txBody>
      </p:sp>
      <p:sp>
        <p:nvSpPr>
          <p:cNvPr id="2" name="TextBox 1">
            <a:extLst>
              <a:ext uri="{FF2B5EF4-FFF2-40B4-BE49-F238E27FC236}">
                <a16:creationId xmlns:a16="http://schemas.microsoft.com/office/drawing/2014/main" id="{AB147675-10D4-DB46-9BA4-88D27765034A}"/>
              </a:ext>
            </a:extLst>
          </p:cNvPr>
          <p:cNvSpPr txBox="1"/>
          <p:nvPr/>
        </p:nvSpPr>
        <p:spPr>
          <a:xfrm>
            <a:off x="422032" y="4849477"/>
            <a:ext cx="9203516" cy="1200329"/>
          </a:xfrm>
          <a:prstGeom prst="rect">
            <a:avLst/>
          </a:prstGeom>
          <a:noFill/>
          <a:ln>
            <a:solidFill>
              <a:schemeClr val="tx1"/>
            </a:solidFill>
          </a:ln>
        </p:spPr>
        <p:txBody>
          <a:bodyPr wrap="square" rtlCol="0">
            <a:spAutoFit/>
          </a:bodyPr>
          <a:lstStyle/>
          <a:p>
            <a:r>
              <a:rPr lang="en-US" sz="2400" dirty="0">
                <a:latin typeface="Consolas" panose="020B0609020204030204" pitchFamily="49" charset="0"/>
                <a:cs typeface="Consolas" panose="020B0609020204030204" pitchFamily="49" charset="0"/>
              </a:rPr>
              <a:t>Author: Karthikeyan Rathore</a:t>
            </a:r>
          </a:p>
          <a:p>
            <a:r>
              <a:rPr lang="en-US" sz="2400" dirty="0">
                <a:latin typeface="Consolas" panose="020B0609020204030204" pitchFamily="49" charset="0"/>
                <a:cs typeface="Consolas" panose="020B0609020204030204" pitchFamily="49" charset="0"/>
              </a:rPr>
              <a:t>Course: Seminar on Special Topics in Emerging Areas</a:t>
            </a:r>
          </a:p>
          <a:p>
            <a:r>
              <a:rPr lang="en-US" sz="2400" dirty="0">
                <a:latin typeface="Consolas" panose="020B0609020204030204" pitchFamily="49" charset="0"/>
                <a:cs typeface="Consolas" panose="020B0609020204030204" pitchFamily="49" charset="0"/>
              </a:rPr>
              <a:t>Course Code: ECSE321P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u="sng">
                <a:latin typeface="Consolas"/>
                <a:ea typeface="Consolas"/>
                <a:cs typeface="Consolas"/>
                <a:sym typeface="Consolas"/>
              </a:rPr>
              <a:t>Introduction</a:t>
            </a:r>
            <a:endParaRPr sz="3100" u="sng">
              <a:latin typeface="Consolas"/>
              <a:ea typeface="Consolas"/>
              <a:cs typeface="Consolas"/>
              <a:sym typeface="Consolas"/>
            </a:endParaRPr>
          </a:p>
        </p:txBody>
      </p:sp>
      <p:sp>
        <p:nvSpPr>
          <p:cNvPr id="68" name="Google Shape;68;p15"/>
          <p:cNvSpPr txBox="1">
            <a:spLocks noGrp="1"/>
          </p:cNvSpPr>
          <p:nvPr>
            <p:ph type="body" idx="1"/>
          </p:nvPr>
        </p:nvSpPr>
        <p:spPr>
          <a:xfrm>
            <a:off x="838200" y="650859"/>
            <a:ext cx="10515600" cy="1524223"/>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captcha is a software for generating codes that are easy for humans to pass but difficult for computer programs such as BOTS.</a:t>
            </a:r>
          </a:p>
          <a:p>
            <a:pPr marL="342900">
              <a:spcBef>
                <a:spcPts val="1600"/>
              </a:spcBef>
              <a:spcAft>
                <a:spcPts val="1600"/>
              </a:spcAft>
              <a:buClr>
                <a:schemeClr val="tx1"/>
              </a:buClr>
            </a:pPr>
            <a:endParaRPr lang="en-US" sz="2000" dirty="0">
              <a:solidFill>
                <a:schemeClr val="tx1"/>
              </a:solidFill>
              <a:latin typeface="Consolas" panose="020B0609020204030204" pitchFamily="49" charset="0"/>
              <a:cs typeface="Consolas" panose="020B0609020204030204" pitchFamily="49" charset="0"/>
              <a:sym typeface="Arial"/>
            </a:endParaRPr>
          </a:p>
          <a:p>
            <a:pPr marL="342900">
              <a:spcBef>
                <a:spcPts val="1600"/>
              </a:spcBef>
              <a:spcAft>
                <a:spcPts val="1600"/>
              </a:spcAft>
              <a:buClr>
                <a:schemeClr val="tx1"/>
              </a:buClr>
            </a:pPr>
            <a:endParaRPr lang="en-US" sz="2000" dirty="0">
              <a:solidFill>
                <a:schemeClr val="tx1"/>
              </a:solidFill>
              <a:latin typeface="Consolas" panose="020B0609020204030204" pitchFamily="49" charset="0"/>
              <a:cs typeface="Consolas" panose="020B0609020204030204" pitchFamily="49" charset="0"/>
              <a:sym typeface="Arial"/>
            </a:endParaRPr>
          </a:p>
        </p:txBody>
      </p:sp>
      <p:pic>
        <p:nvPicPr>
          <p:cNvPr id="1026" name="Picture 2" descr="8 widely used captcha examples">
            <a:extLst>
              <a:ext uri="{FF2B5EF4-FFF2-40B4-BE49-F238E27FC236}">
                <a16:creationId xmlns:a16="http://schemas.microsoft.com/office/drawing/2014/main" id="{B048A71F-2FFD-3D44-98B0-D60FD1406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089" y="2744324"/>
            <a:ext cx="6362925" cy="34628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u="sng">
                <a:latin typeface="Consolas"/>
                <a:ea typeface="Consolas"/>
                <a:cs typeface="Consolas"/>
                <a:sym typeface="Consolas"/>
              </a:rPr>
              <a:t>Introduction</a:t>
            </a: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captcha is a simple process, where the user is prompted with automated system-generated question and the system has to classify between human and a bot based upon the answer from the user.</a:t>
            </a:r>
            <a:endParaRPr lang="en-US" dirty="0">
              <a:solidFill>
                <a:schemeClr val="tx1"/>
              </a:solidFill>
              <a:latin typeface="Consolas" panose="020B0609020204030204" pitchFamily="49" charset="0"/>
              <a:cs typeface="Consolas" panose="020B0609020204030204" pitchFamily="49" charset="0"/>
              <a:sym typeface="Arial"/>
            </a:endParaRPr>
          </a:p>
          <a:p>
            <a:pPr marL="114300" indent="0">
              <a:spcBef>
                <a:spcPts val="1600"/>
              </a:spcBef>
              <a:spcAft>
                <a:spcPts val="1600"/>
              </a:spcAft>
              <a:buClr>
                <a:schemeClr val="tx1"/>
              </a:buClr>
              <a:buNone/>
            </a:pPr>
            <a:endParaRPr lang="en-US" sz="2000" dirty="0">
              <a:solidFill>
                <a:schemeClr val="tx1"/>
              </a:solidFill>
              <a:latin typeface="Consolas" panose="020B0609020204030204" pitchFamily="49" charset="0"/>
              <a:cs typeface="Consolas" panose="020B0609020204030204" pitchFamily="49" charset="0"/>
              <a:sym typeface="Arial"/>
            </a:endParaRPr>
          </a:p>
        </p:txBody>
      </p:sp>
      <p:pic>
        <p:nvPicPr>
          <p:cNvPr id="2050" name="Picture 2" descr="CAPTCHA - Simple English Wikipedia, the free encyclopedia">
            <a:extLst>
              <a:ext uri="{FF2B5EF4-FFF2-40B4-BE49-F238E27FC236}">
                <a16:creationId xmlns:a16="http://schemas.microsoft.com/office/drawing/2014/main" id="{D916648E-4C75-8046-AA83-FE2FAA6EC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9800" y="2698479"/>
            <a:ext cx="4934637" cy="4026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22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u="sng" dirty="0">
                <a:latin typeface="Consolas"/>
                <a:ea typeface="Consolas"/>
                <a:cs typeface="Consolas"/>
                <a:sym typeface="Consolas"/>
              </a:rPr>
              <a:t>Introduction (History)</a:t>
            </a: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captcha (completely automated public </a:t>
            </a:r>
            <a:r>
              <a:rPr lang="en-IN" dirty="0" err="1">
                <a:latin typeface="Consolas" panose="020B0609020204030204" pitchFamily="49" charset="0"/>
                <a:cs typeface="Consolas" panose="020B0609020204030204" pitchFamily="49" charset="0"/>
              </a:rPr>
              <a:t>turing</a:t>
            </a:r>
            <a:r>
              <a:rPr lang="en-IN" dirty="0">
                <a:latin typeface="Consolas" panose="020B0609020204030204" pitchFamily="49" charset="0"/>
                <a:cs typeface="Consolas" panose="020B0609020204030204" pitchFamily="49" charset="0"/>
              </a:rPr>
              <a:t> test to tell computers and human apart) was developed in 1997 by Andrei Broder to distinguish between human and computer.</a:t>
            </a:r>
            <a:endParaRPr lang="en-US" dirty="0">
              <a:solidFill>
                <a:schemeClr val="tx1"/>
              </a:solidFill>
              <a:latin typeface="Consolas" panose="020B0609020204030204" pitchFamily="49" charset="0"/>
              <a:cs typeface="Consolas" panose="020B0609020204030204" pitchFamily="49" charset="0"/>
              <a:sym typeface="Arial"/>
            </a:endParaRPr>
          </a:p>
          <a:p>
            <a:pPr marL="114300" indent="0">
              <a:spcBef>
                <a:spcPts val="1600"/>
              </a:spcBef>
              <a:spcAft>
                <a:spcPts val="1600"/>
              </a:spcAft>
              <a:buClr>
                <a:schemeClr val="tx1"/>
              </a:buClr>
              <a:buNone/>
            </a:pPr>
            <a:endParaRPr lang="en-US" sz="2000" dirty="0">
              <a:solidFill>
                <a:schemeClr val="tx1"/>
              </a:solidFill>
              <a:latin typeface="Consolas" panose="020B0609020204030204" pitchFamily="49" charset="0"/>
              <a:cs typeface="Consolas" panose="020B0609020204030204" pitchFamily="49" charset="0"/>
              <a:sym typeface="Arial"/>
            </a:endParaRPr>
          </a:p>
        </p:txBody>
      </p:sp>
      <p:pic>
        <p:nvPicPr>
          <p:cNvPr id="4100" name="Picture 4" descr="Asking AltaVista in 1996 - YouTube">
            <a:extLst>
              <a:ext uri="{FF2B5EF4-FFF2-40B4-BE49-F238E27FC236}">
                <a16:creationId xmlns:a16="http://schemas.microsoft.com/office/drawing/2014/main" id="{18CEF6E7-BD3F-7742-BD8D-65887BF29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8663" y="2537595"/>
            <a:ext cx="5557412" cy="4168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79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u="sng" dirty="0">
                <a:latin typeface="Consolas"/>
                <a:ea typeface="Consolas"/>
                <a:cs typeface="Consolas"/>
                <a:sym typeface="Consolas"/>
              </a:rPr>
              <a:t>Idea/Why? captcha</a:t>
            </a: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captcha is a unique security measure to protect the internet-based services from exploitations performed automatically by millions of bots with offensive intentions.</a:t>
            </a:r>
            <a:endParaRPr lang="en-US" sz="2000" dirty="0">
              <a:solidFill>
                <a:schemeClr val="tx1"/>
              </a:solidFill>
              <a:latin typeface="Consolas" panose="020B0609020204030204" pitchFamily="49" charset="0"/>
              <a:cs typeface="Consolas" panose="020B0609020204030204" pitchFamily="49" charset="0"/>
              <a:sym typeface="Arial"/>
            </a:endParaRPr>
          </a:p>
        </p:txBody>
      </p:sp>
    </p:spTree>
    <p:extLst>
      <p:ext uri="{BB962C8B-B14F-4D97-AF65-F5344CB8AC3E}">
        <p14:creationId xmlns:p14="http://schemas.microsoft.com/office/powerpoint/2010/main" val="4062130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u="sng" dirty="0">
                <a:latin typeface="Consolas"/>
                <a:ea typeface="Consolas"/>
                <a:cs typeface="Consolas"/>
                <a:sym typeface="Consolas"/>
              </a:rPr>
              <a:t>Idea/Why? captcha</a:t>
            </a: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sz="2400" dirty="0">
                <a:latin typeface="Consolas" panose="020B0609020204030204" pitchFamily="49" charset="0"/>
                <a:cs typeface="Consolas" panose="020B0609020204030204" pitchFamily="49" charset="0"/>
              </a:rPr>
              <a:t>Most of internet based services such as Yahoo, Hotmail, Gmail were getting attacked by malicious bots which used to fill registration forms in these websites automatically with unfitting information which further resulted in the performance of the systems and in some cases system failure was caused.</a:t>
            </a:r>
            <a:endParaRPr lang="en-US" sz="2400" dirty="0">
              <a:solidFill>
                <a:schemeClr val="tx1"/>
              </a:solidFill>
              <a:latin typeface="Consolas" panose="020B0609020204030204" pitchFamily="49" charset="0"/>
              <a:cs typeface="Consolas" panose="020B0609020204030204" pitchFamily="49" charset="0"/>
              <a:sym typeface="Arial"/>
            </a:endParaRPr>
          </a:p>
        </p:txBody>
      </p:sp>
      <p:pic>
        <p:nvPicPr>
          <p:cNvPr id="6146" name="Picture 2" descr="The changing face of the Yahoo! homepage, 1996-2006">
            <a:extLst>
              <a:ext uri="{FF2B5EF4-FFF2-40B4-BE49-F238E27FC236}">
                <a16:creationId xmlns:a16="http://schemas.microsoft.com/office/drawing/2014/main" id="{5F3AFE55-D17B-6641-8B1D-39378D84C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032" y="3142405"/>
            <a:ext cx="3430352" cy="235600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ow Gmail Happened: The Inside Story of Its Launch 10 Years Ago Today | Time">
            <a:extLst>
              <a:ext uri="{FF2B5EF4-FFF2-40B4-BE49-F238E27FC236}">
                <a16:creationId xmlns:a16="http://schemas.microsoft.com/office/drawing/2014/main" id="{930EE73B-FBDD-BD44-BC6C-53BAE3ECE2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8674" y="3142404"/>
            <a:ext cx="3324055" cy="235600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istory of Email">
            <a:extLst>
              <a:ext uri="{FF2B5EF4-FFF2-40B4-BE49-F238E27FC236}">
                <a16:creationId xmlns:a16="http://schemas.microsoft.com/office/drawing/2014/main" id="{E0A71827-A7B2-6346-A233-B9A39374D3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63278" y="3142405"/>
            <a:ext cx="3318510" cy="235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17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u="sng" dirty="0">
                <a:latin typeface="Consolas"/>
                <a:ea typeface="Consolas"/>
                <a:cs typeface="Consolas"/>
                <a:sym typeface="Consolas"/>
              </a:rPr>
              <a:t>Idea/Why? captcha</a:t>
            </a: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AltaVista attacked by malicious internet bots in 1997.</a:t>
            </a:r>
            <a:endParaRPr lang="en-US" dirty="0">
              <a:solidFill>
                <a:schemeClr val="tx1"/>
              </a:solidFill>
              <a:latin typeface="Consolas" panose="020B0609020204030204" pitchFamily="49" charset="0"/>
              <a:cs typeface="Consolas" panose="020B0609020204030204" pitchFamily="49" charset="0"/>
              <a:sym typeface="Arial"/>
            </a:endParaRPr>
          </a:p>
        </p:txBody>
      </p:sp>
      <p:pic>
        <p:nvPicPr>
          <p:cNvPr id="7170" name="Picture 2" descr="Death of AltaVista – The Neglected Search Engine of the Past | Marvist Blog">
            <a:extLst>
              <a:ext uri="{FF2B5EF4-FFF2-40B4-BE49-F238E27FC236}">
                <a16:creationId xmlns:a16="http://schemas.microsoft.com/office/drawing/2014/main" id="{553D9115-9DF2-8542-8CE3-B755C084C5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4260" y="1910722"/>
            <a:ext cx="6009017" cy="2911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697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APPLICATIONS/WHERE? CAPTCHA</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Website Registration: captcha systems are used in most of the email-services such as </a:t>
            </a:r>
            <a:r>
              <a:rPr lang="en-IN" dirty="0" err="1">
                <a:latin typeface="Consolas" panose="020B0609020204030204" pitchFamily="49" charset="0"/>
                <a:cs typeface="Consolas" panose="020B0609020204030204" pitchFamily="49" charset="0"/>
              </a:rPr>
              <a:t>gmail</a:t>
            </a:r>
            <a:r>
              <a:rPr lang="en-IN" dirty="0">
                <a:latin typeface="Consolas" panose="020B0609020204030204" pitchFamily="49" charset="0"/>
                <a:cs typeface="Consolas" panose="020B0609020204030204" pitchFamily="49" charset="0"/>
              </a:rPr>
              <a:t>, yahoo, outlook etc to prevent against bots that used to register thousands of accounts.</a:t>
            </a:r>
            <a:endParaRPr lang="en-US" dirty="0">
              <a:solidFill>
                <a:schemeClr val="tx1"/>
              </a:solidFill>
              <a:latin typeface="Consolas" panose="020B0609020204030204" pitchFamily="49" charset="0"/>
              <a:cs typeface="Consolas" panose="020B0609020204030204" pitchFamily="49" charset="0"/>
              <a:sym typeface="Arial"/>
            </a:endParaRPr>
          </a:p>
        </p:txBody>
      </p:sp>
      <p:pic>
        <p:nvPicPr>
          <p:cNvPr id="2050" name="Picture 2" descr="WordPress User Registration CAPTCHA">
            <a:extLst>
              <a:ext uri="{FF2B5EF4-FFF2-40B4-BE49-F238E27FC236}">
                <a16:creationId xmlns:a16="http://schemas.microsoft.com/office/drawing/2014/main" id="{CE5FF675-AC1B-944C-AAFF-E7097E5E2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9486" y="2282006"/>
            <a:ext cx="3934532" cy="4441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178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APPLICATIONS/WHERE? CAPTCHA</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595172" y="650859"/>
            <a:ext cx="11411061" cy="1886736"/>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Search Engine Bots: captcha can be used by administrators to stop search engine bots from indexing to prevent others from reading or downloading these sites because they may contain private information</a:t>
            </a:r>
            <a:r>
              <a:rPr lang="en-IN" dirty="0"/>
              <a:t>.</a:t>
            </a:r>
          </a:p>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Dictionary Attacks: captcha can be used to prevent comp programs from being able to repeat through the entire space of password by asking the user to solve a CAPTCHA test after a number of unsuccessful logins.</a:t>
            </a:r>
            <a:endParaRPr lang="en-US" dirty="0">
              <a:latin typeface="Consolas" panose="020B0609020204030204" pitchFamily="49" charset="0"/>
              <a:cs typeface="Consolas" panose="020B0609020204030204" pitchFamily="49" charset="0"/>
              <a:sym typeface="Arial"/>
            </a:endParaRPr>
          </a:p>
          <a:p>
            <a:pPr marL="114300" indent="0">
              <a:spcBef>
                <a:spcPts val="1600"/>
              </a:spcBef>
              <a:spcAft>
                <a:spcPts val="1600"/>
              </a:spcAft>
              <a:buClr>
                <a:schemeClr val="tx1"/>
              </a:buClr>
              <a:buNone/>
            </a:pPr>
            <a:endParaRPr lang="en-US" dirty="0">
              <a:solidFill>
                <a:schemeClr val="tx1"/>
              </a:solidFill>
              <a:latin typeface="Consolas" panose="020B0609020204030204" pitchFamily="49" charset="0"/>
              <a:cs typeface="Consolas" panose="020B0609020204030204" pitchFamily="49" charset="0"/>
              <a:sym typeface="Arial"/>
            </a:endParaRPr>
          </a:p>
        </p:txBody>
      </p:sp>
    </p:spTree>
    <p:extLst>
      <p:ext uri="{BB962C8B-B14F-4D97-AF65-F5344CB8AC3E}">
        <p14:creationId xmlns:p14="http://schemas.microsoft.com/office/powerpoint/2010/main" val="172838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APPLICATIONS/WHERE? CAPTCHA</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595172" y="650858"/>
            <a:ext cx="11668238" cy="2301347"/>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Online Polls: captcha are utilized to prevent Web crawlers and bots from engaging in online polling by asking the user who wants to vote to solve a CAPTCHA before the vote submission. However, this process cannot prevent users from voting many times. </a:t>
            </a:r>
          </a:p>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Protecting Email Addresses from Scrapers: This can be done by hiding a user’s email address from Web scrapers by asking the user to solve a CAPTCHA before displaying his or her email address. </a:t>
            </a:r>
            <a:endParaRPr lang="en-US" dirty="0">
              <a:solidFill>
                <a:schemeClr val="tx1"/>
              </a:solidFill>
              <a:latin typeface="Consolas" panose="020B0609020204030204" pitchFamily="49" charset="0"/>
              <a:cs typeface="Consolas" panose="020B0609020204030204" pitchFamily="49" charset="0"/>
              <a:sym typeface="Arial"/>
            </a:endParaRPr>
          </a:p>
        </p:txBody>
      </p:sp>
    </p:spTree>
    <p:extLst>
      <p:ext uri="{BB962C8B-B14F-4D97-AF65-F5344CB8AC3E}">
        <p14:creationId xmlns:p14="http://schemas.microsoft.com/office/powerpoint/2010/main" val="1074750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BYPASS CAPTCHA TEST/HOW? </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595172" y="650858"/>
            <a:ext cx="11668238" cy="2778142"/>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OCR (Optical Character Recognition) is a technique / mechanism that converts images of typed, handwritten or printed text into machine-encoded text, whether from a scanned document, photo of a document or a scene-photo. Some of the software can use this technique to bypass captcha challenge.</a:t>
            </a:r>
            <a:endParaRPr lang="en-US" dirty="0">
              <a:solidFill>
                <a:schemeClr val="tx1"/>
              </a:solidFill>
              <a:latin typeface="Consolas" panose="020B0609020204030204" pitchFamily="49" charset="0"/>
              <a:cs typeface="Consolas" panose="020B0609020204030204" pitchFamily="49" charset="0"/>
              <a:sym typeface="Arial"/>
            </a:endParaRPr>
          </a:p>
        </p:txBody>
      </p:sp>
      <p:pic>
        <p:nvPicPr>
          <p:cNvPr id="6146" name="Picture 2" descr="How did I write an own OCR program using Keras and TensorFlow in Python |  by Anh T. Dang | Towards Data Science">
            <a:extLst>
              <a:ext uri="{FF2B5EF4-FFF2-40B4-BE49-F238E27FC236}">
                <a16:creationId xmlns:a16="http://schemas.microsoft.com/office/drawing/2014/main" id="{ABF126F1-892A-AE4F-9CFF-DBA37F5DD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337" y="3308297"/>
            <a:ext cx="5895702" cy="3314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017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BYPASS CAPTCHA TEST/HOW? </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595172" y="650858"/>
            <a:ext cx="11668238" cy="1486225"/>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Random Guessing Attack: It is "the situation when an attacker randomly passes the CAPTCHA challenges without any effort". </a:t>
            </a:r>
            <a:endParaRPr lang="en-US" dirty="0">
              <a:solidFill>
                <a:schemeClr val="tx1"/>
              </a:solidFill>
              <a:latin typeface="Consolas" panose="020B0609020204030204" pitchFamily="49" charset="0"/>
              <a:cs typeface="Consolas" panose="020B0609020204030204" pitchFamily="49" charset="0"/>
              <a:sym typeface="Arial"/>
            </a:endParaRPr>
          </a:p>
        </p:txBody>
      </p:sp>
      <p:pic>
        <p:nvPicPr>
          <p:cNvPr id="7170" name="Picture 2" descr="Why captchas are getting harder - Vox">
            <a:extLst>
              <a:ext uri="{FF2B5EF4-FFF2-40B4-BE49-F238E27FC236}">
                <a16:creationId xmlns:a16="http://schemas.microsoft.com/office/drawing/2014/main" id="{B128A5F0-C828-2943-8157-F0B897A6A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5156" y="2069156"/>
            <a:ext cx="3007595" cy="4464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12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BYPASS CAPTCHA TEST/HOW? </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418011" y="650858"/>
            <a:ext cx="11845399" cy="1820635"/>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Pictionary-based Attack: the bot maintains a picture dictionary (Pictionary) or a look-up table of object pictures along with their object names and any associated information useful in picture matching.</a:t>
            </a:r>
            <a:endParaRPr lang="en-US" dirty="0">
              <a:solidFill>
                <a:schemeClr val="tx1"/>
              </a:solidFill>
              <a:latin typeface="Consolas" panose="020B0609020204030204" pitchFamily="49" charset="0"/>
              <a:cs typeface="Consolas" panose="020B0609020204030204" pitchFamily="49" charset="0"/>
              <a:sym typeface="Arial"/>
            </a:endParaRPr>
          </a:p>
        </p:txBody>
      </p:sp>
    </p:spTree>
    <p:extLst>
      <p:ext uri="{BB962C8B-B14F-4D97-AF65-F5344CB8AC3E}">
        <p14:creationId xmlns:p14="http://schemas.microsoft.com/office/powerpoint/2010/main" val="2352675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TYPES OF CAPTCHA </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418011" y="650859"/>
            <a:ext cx="11845399" cy="655428"/>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sz="3200" dirty="0">
                <a:latin typeface="Consolas" panose="020B0609020204030204" pitchFamily="49" charset="0"/>
                <a:cs typeface="Consolas" panose="020B0609020204030204" pitchFamily="49" charset="0"/>
              </a:rPr>
              <a:t>Text Based CAPTCHAs</a:t>
            </a:r>
          </a:p>
          <a:p>
            <a:pPr marL="342900">
              <a:spcBef>
                <a:spcPts val="1600"/>
              </a:spcBef>
              <a:spcAft>
                <a:spcPts val="1600"/>
              </a:spcAft>
              <a:buClr>
                <a:schemeClr val="tx1"/>
              </a:buClr>
            </a:pPr>
            <a:r>
              <a:rPr lang="en-IN" sz="3200" dirty="0">
                <a:latin typeface="Consolas" panose="020B0609020204030204" pitchFamily="49" charset="0"/>
                <a:cs typeface="Consolas" panose="020B0609020204030204" pitchFamily="49" charset="0"/>
              </a:rPr>
              <a:t>Image Based CAPTCHAs</a:t>
            </a:r>
          </a:p>
          <a:p>
            <a:pPr marL="342900">
              <a:spcBef>
                <a:spcPts val="1600"/>
              </a:spcBef>
              <a:spcAft>
                <a:spcPts val="1600"/>
              </a:spcAft>
              <a:buClr>
                <a:schemeClr val="tx1"/>
              </a:buClr>
            </a:pPr>
            <a:r>
              <a:rPr lang="en-IN" sz="3200" dirty="0">
                <a:latin typeface="Consolas" panose="020B0609020204030204" pitchFamily="49" charset="0"/>
                <a:cs typeface="Consolas" panose="020B0609020204030204" pitchFamily="49" charset="0"/>
              </a:rPr>
              <a:t>Audio Based CAPTCHAs</a:t>
            </a:r>
          </a:p>
          <a:p>
            <a:pPr marL="342900">
              <a:spcBef>
                <a:spcPts val="1600"/>
              </a:spcBef>
              <a:spcAft>
                <a:spcPts val="1600"/>
              </a:spcAft>
              <a:buClr>
                <a:schemeClr val="tx1"/>
              </a:buClr>
            </a:pPr>
            <a:r>
              <a:rPr lang="en-IN" sz="3200" dirty="0">
                <a:latin typeface="Consolas" panose="020B0609020204030204" pitchFamily="49" charset="0"/>
                <a:cs typeface="Consolas" panose="020B0609020204030204" pitchFamily="49" charset="0"/>
              </a:rPr>
              <a:t>Video Based CAPTCHAs</a:t>
            </a:r>
          </a:p>
          <a:p>
            <a:pPr marL="342900">
              <a:spcBef>
                <a:spcPts val="1600"/>
              </a:spcBef>
              <a:spcAft>
                <a:spcPts val="1600"/>
              </a:spcAft>
              <a:buClr>
                <a:schemeClr val="tx1"/>
              </a:buClr>
            </a:pPr>
            <a:r>
              <a:rPr lang="en-IN" sz="3200" dirty="0">
                <a:latin typeface="Consolas" panose="020B0609020204030204" pitchFamily="49" charset="0"/>
                <a:cs typeface="Consolas" panose="020B0609020204030204" pitchFamily="49" charset="0"/>
              </a:rPr>
              <a:t>Puzzle Based CAPTCHAs </a:t>
            </a:r>
            <a:endParaRPr lang="en-US" sz="3200" dirty="0">
              <a:solidFill>
                <a:schemeClr val="tx1"/>
              </a:solidFill>
              <a:latin typeface="Consolas" panose="020B0609020204030204" pitchFamily="49" charset="0"/>
              <a:cs typeface="Consolas" panose="020B0609020204030204" pitchFamily="49" charset="0"/>
              <a:sym typeface="Arial"/>
            </a:endParaRPr>
          </a:p>
        </p:txBody>
      </p:sp>
    </p:spTree>
    <p:extLst>
      <p:ext uri="{BB962C8B-B14F-4D97-AF65-F5344CB8AC3E}">
        <p14:creationId xmlns:p14="http://schemas.microsoft.com/office/powerpoint/2010/main" val="1710398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lvl="0">
              <a:spcBef>
                <a:spcPts val="0"/>
              </a:spcBef>
            </a:pPr>
            <a:r>
              <a:rPr lang="en-IN" sz="3200" u="sng" dirty="0">
                <a:latin typeface="Consolas" panose="020B0609020204030204" pitchFamily="49" charset="0"/>
                <a:cs typeface="Consolas" panose="020B0609020204030204" pitchFamily="49" charset="0"/>
              </a:rPr>
              <a:t>Text Based CAPTCHAs</a:t>
            </a:r>
            <a:endParaRPr lang="en-US" sz="31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418011" y="650859"/>
            <a:ext cx="11845399" cy="655428"/>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Text-based CAPTCHAs, the earliest and most deployed CAPTCHA type, typically asks users to recognize a distorted sequence that consists of English letters or Arabic numerals.</a:t>
            </a:r>
          </a:p>
        </p:txBody>
      </p:sp>
      <p:pic>
        <p:nvPicPr>
          <p:cNvPr id="10242" name="Picture 2" descr="CAPTCHA">
            <a:extLst>
              <a:ext uri="{FF2B5EF4-FFF2-40B4-BE49-F238E27FC236}">
                <a16:creationId xmlns:a16="http://schemas.microsoft.com/office/drawing/2014/main" id="{79C7FC75-8F0A-484D-909B-8050C86A6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884" y="2653356"/>
            <a:ext cx="4000500" cy="195522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123BA8B-682C-4E46-8CDB-ACBEA5162A57}"/>
              </a:ext>
            </a:extLst>
          </p:cNvPr>
          <p:cNvSpPr/>
          <p:nvPr/>
        </p:nvSpPr>
        <p:spPr>
          <a:xfrm>
            <a:off x="2067460" y="4685356"/>
            <a:ext cx="815031" cy="369332"/>
          </a:xfrm>
          <a:prstGeom prst="rect">
            <a:avLst/>
          </a:prstGeom>
        </p:spPr>
        <p:txBody>
          <a:bodyPr wrap="none">
            <a:spAutoFit/>
          </a:bodyPr>
          <a:lstStyle/>
          <a:p>
            <a:r>
              <a:rPr lang="en-IN" dirty="0"/>
              <a:t>GIMPY</a:t>
            </a:r>
            <a:endParaRPr lang="en-US" dirty="0"/>
          </a:p>
        </p:txBody>
      </p:sp>
      <p:pic>
        <p:nvPicPr>
          <p:cNvPr id="10244" name="Picture 4" descr="CAPTCHA">
            <a:extLst>
              <a:ext uri="{FF2B5EF4-FFF2-40B4-BE49-F238E27FC236}">
                <a16:creationId xmlns:a16="http://schemas.microsoft.com/office/drawing/2014/main" id="{A37FC7D3-F244-B84E-9C33-1A977C55B7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269" t="21428" r="26936" b="19143"/>
          <a:stretch/>
        </p:blipFill>
        <p:spPr bwMode="auto">
          <a:xfrm>
            <a:off x="5904411" y="2653356"/>
            <a:ext cx="2391664" cy="883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97B2386-6FB4-C441-8D7A-66135FB14C92}"/>
              </a:ext>
            </a:extLst>
          </p:cNvPr>
          <p:cNvSpPr/>
          <p:nvPr/>
        </p:nvSpPr>
        <p:spPr>
          <a:xfrm>
            <a:off x="6510530" y="3569063"/>
            <a:ext cx="1179425" cy="369332"/>
          </a:xfrm>
          <a:prstGeom prst="rect">
            <a:avLst/>
          </a:prstGeom>
        </p:spPr>
        <p:txBody>
          <a:bodyPr wrap="none">
            <a:spAutoFit/>
          </a:bodyPr>
          <a:lstStyle/>
          <a:p>
            <a:r>
              <a:rPr lang="en-US" dirty="0"/>
              <a:t>EZ–Gimpy </a:t>
            </a:r>
          </a:p>
        </p:txBody>
      </p:sp>
      <p:pic>
        <p:nvPicPr>
          <p:cNvPr id="10246" name="Picture 6" descr="An Example of Baffle-Text Captcha | Download Scientific Diagram">
            <a:extLst>
              <a:ext uri="{FF2B5EF4-FFF2-40B4-BE49-F238E27FC236}">
                <a16:creationId xmlns:a16="http://schemas.microsoft.com/office/drawing/2014/main" id="{81D9C4C3-583F-0742-B733-9FA197DE96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5748" y="2639042"/>
            <a:ext cx="3038928" cy="91167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F2D0658-996E-3847-85B9-70E43535E12F}"/>
              </a:ext>
            </a:extLst>
          </p:cNvPr>
          <p:cNvSpPr/>
          <p:nvPr/>
        </p:nvSpPr>
        <p:spPr>
          <a:xfrm>
            <a:off x="10139350" y="3569063"/>
            <a:ext cx="722890" cy="369332"/>
          </a:xfrm>
          <a:prstGeom prst="rect">
            <a:avLst/>
          </a:prstGeom>
        </p:spPr>
        <p:txBody>
          <a:bodyPr wrap="none">
            <a:spAutoFit/>
          </a:bodyPr>
          <a:lstStyle/>
          <a:p>
            <a:r>
              <a:rPr lang="en-US" dirty="0"/>
              <a:t>baffle</a:t>
            </a:r>
          </a:p>
        </p:txBody>
      </p:sp>
      <p:pic>
        <p:nvPicPr>
          <p:cNvPr id="10248" name="Picture 8" descr="Captcha: ett bakslag för tillgänglighet">
            <a:extLst>
              <a:ext uri="{FF2B5EF4-FFF2-40B4-BE49-F238E27FC236}">
                <a16:creationId xmlns:a16="http://schemas.microsoft.com/office/drawing/2014/main" id="{2AE185BF-FD77-4040-AAC8-F645E8EA01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5618" y="4226124"/>
            <a:ext cx="4318000" cy="2032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A5E807E-35A2-3446-869F-317D88F3A508}"/>
              </a:ext>
            </a:extLst>
          </p:cNvPr>
          <p:cNvSpPr/>
          <p:nvPr/>
        </p:nvSpPr>
        <p:spPr>
          <a:xfrm>
            <a:off x="6999600" y="6217083"/>
            <a:ext cx="636713" cy="369332"/>
          </a:xfrm>
          <a:prstGeom prst="rect">
            <a:avLst/>
          </a:prstGeom>
        </p:spPr>
        <p:txBody>
          <a:bodyPr wrap="none">
            <a:spAutoFit/>
          </a:bodyPr>
          <a:lstStyle/>
          <a:p>
            <a:r>
              <a:rPr lang="en-US" dirty="0"/>
              <a:t>MSN</a:t>
            </a:r>
          </a:p>
        </p:txBody>
      </p:sp>
    </p:spTree>
    <p:extLst>
      <p:ext uri="{BB962C8B-B14F-4D97-AF65-F5344CB8AC3E}">
        <p14:creationId xmlns:p14="http://schemas.microsoft.com/office/powerpoint/2010/main" val="72572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a:spcBef>
                <a:spcPts val="0"/>
              </a:spcBef>
            </a:pPr>
            <a:r>
              <a:rPr lang="en-IN" sz="3200" u="sng" dirty="0">
                <a:latin typeface="Consolas" panose="020B0609020204030204" pitchFamily="49" charset="0"/>
                <a:cs typeface="Consolas" panose="020B0609020204030204" pitchFamily="49" charset="0"/>
              </a:rPr>
              <a:t>Image Based CAPTCHAs</a:t>
            </a:r>
            <a:endParaRPr lang="en-US" sz="32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418011" y="650859"/>
            <a:ext cx="11845399" cy="655428"/>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Image-based CAPTCHAs are based on the human recognition ability of a specific picture from a collection of similar pictures.</a:t>
            </a:r>
          </a:p>
        </p:txBody>
      </p:sp>
      <p:pic>
        <p:nvPicPr>
          <p:cNvPr id="12290" name="Picture 2" descr="Asirra: A CAPTCHA that Exploits Interest-Aligned Manual Image Categorization">
            <a:extLst>
              <a:ext uri="{FF2B5EF4-FFF2-40B4-BE49-F238E27FC236}">
                <a16:creationId xmlns:a16="http://schemas.microsoft.com/office/drawing/2014/main" id="{8423DF90-FC92-784C-A789-11353C92F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28" y="2437861"/>
            <a:ext cx="2476075" cy="25770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C0F6234-3452-6640-8A28-0C2347A4514F}"/>
              </a:ext>
            </a:extLst>
          </p:cNvPr>
          <p:cNvSpPr/>
          <p:nvPr/>
        </p:nvSpPr>
        <p:spPr>
          <a:xfrm>
            <a:off x="502759" y="4984785"/>
            <a:ext cx="1488613" cy="369332"/>
          </a:xfrm>
          <a:prstGeom prst="rect">
            <a:avLst/>
          </a:prstGeom>
        </p:spPr>
        <p:txBody>
          <a:bodyPr wrap="none">
            <a:spAutoFit/>
          </a:bodyPr>
          <a:lstStyle/>
          <a:p>
            <a:r>
              <a:rPr lang="en-US" dirty="0" err="1"/>
              <a:t>asirra</a:t>
            </a:r>
            <a:r>
              <a:rPr lang="en-US" dirty="0"/>
              <a:t> captcha</a:t>
            </a:r>
          </a:p>
        </p:txBody>
      </p:sp>
      <p:pic>
        <p:nvPicPr>
          <p:cNvPr id="12292" name="Picture 4" descr="15) : SEMAGE CAPTCHA [40]. | Download Scientific Diagram">
            <a:extLst>
              <a:ext uri="{FF2B5EF4-FFF2-40B4-BE49-F238E27FC236}">
                <a16:creationId xmlns:a16="http://schemas.microsoft.com/office/drawing/2014/main" id="{78897AF5-D7A1-8F48-8772-CAE974CDF5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3991" y="2437861"/>
            <a:ext cx="2637562" cy="25770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D00B087-4AEA-8843-A73A-2FA79E0ACDAB}"/>
              </a:ext>
            </a:extLst>
          </p:cNvPr>
          <p:cNvSpPr/>
          <p:nvPr/>
        </p:nvSpPr>
        <p:spPr>
          <a:xfrm>
            <a:off x="3638355" y="4991218"/>
            <a:ext cx="1691810" cy="369332"/>
          </a:xfrm>
          <a:prstGeom prst="rect">
            <a:avLst/>
          </a:prstGeom>
        </p:spPr>
        <p:txBody>
          <a:bodyPr wrap="none">
            <a:spAutoFit/>
          </a:bodyPr>
          <a:lstStyle/>
          <a:p>
            <a:r>
              <a:rPr lang="en-US" dirty="0" err="1"/>
              <a:t>semage</a:t>
            </a:r>
            <a:r>
              <a:rPr lang="en-US" dirty="0"/>
              <a:t> captcha</a:t>
            </a:r>
          </a:p>
        </p:txBody>
      </p:sp>
      <p:pic>
        <p:nvPicPr>
          <p:cNvPr id="12294" name="Picture 6" descr="FaceDCAPTCHA | CAPTCHA Research Group | West Virginia University">
            <a:extLst>
              <a:ext uri="{FF2B5EF4-FFF2-40B4-BE49-F238E27FC236}">
                <a16:creationId xmlns:a16="http://schemas.microsoft.com/office/drawing/2014/main" id="{22386724-0371-104E-A543-6553F51376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895" y="2437861"/>
            <a:ext cx="2382666" cy="25092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F269C3B-ED53-FD48-A38F-C742201B33F0}"/>
              </a:ext>
            </a:extLst>
          </p:cNvPr>
          <p:cNvSpPr/>
          <p:nvPr/>
        </p:nvSpPr>
        <p:spPr>
          <a:xfrm>
            <a:off x="6738785" y="4905252"/>
            <a:ext cx="1633011" cy="369332"/>
          </a:xfrm>
          <a:prstGeom prst="rect">
            <a:avLst/>
          </a:prstGeom>
        </p:spPr>
        <p:txBody>
          <a:bodyPr wrap="none">
            <a:spAutoFit/>
          </a:bodyPr>
          <a:lstStyle/>
          <a:p>
            <a:r>
              <a:rPr lang="en-US" dirty="0" err="1"/>
              <a:t>FaceDCAPTCHA</a:t>
            </a:r>
            <a:endParaRPr lang="en-US" dirty="0"/>
          </a:p>
        </p:txBody>
      </p:sp>
      <p:pic>
        <p:nvPicPr>
          <p:cNvPr id="12298" name="Picture 10" descr="Google Recaptcha is not an anti-fraud solution. - Evina">
            <a:extLst>
              <a:ext uri="{FF2B5EF4-FFF2-40B4-BE49-F238E27FC236}">
                <a16:creationId xmlns:a16="http://schemas.microsoft.com/office/drawing/2014/main" id="{6E5DC228-09A1-A040-A3A5-7C69D79EC3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0253" y="2437861"/>
            <a:ext cx="2476075" cy="25092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ADA52F-C86C-664C-A6FE-E3C84390DD2E}"/>
              </a:ext>
            </a:extLst>
          </p:cNvPr>
          <p:cNvSpPr txBox="1"/>
          <p:nvPr/>
        </p:nvSpPr>
        <p:spPr>
          <a:xfrm>
            <a:off x="9855367" y="4890154"/>
            <a:ext cx="1597553" cy="369332"/>
          </a:xfrm>
          <a:prstGeom prst="rect">
            <a:avLst/>
          </a:prstGeom>
          <a:noFill/>
        </p:spPr>
        <p:txBody>
          <a:bodyPr wrap="none" rtlCol="0">
            <a:spAutoFit/>
          </a:bodyPr>
          <a:lstStyle/>
          <a:p>
            <a:r>
              <a:rPr lang="en-US" dirty="0"/>
              <a:t>google captcha</a:t>
            </a:r>
          </a:p>
        </p:txBody>
      </p:sp>
    </p:spTree>
    <p:extLst>
      <p:ext uri="{BB962C8B-B14F-4D97-AF65-F5344CB8AC3E}">
        <p14:creationId xmlns:p14="http://schemas.microsoft.com/office/powerpoint/2010/main" val="4036232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65775"/>
            <a:ext cx="6999600" cy="424200"/>
          </a:xfrm>
          <a:prstGeom prst="rect">
            <a:avLst/>
          </a:prstGeom>
        </p:spPr>
        <p:txBody>
          <a:bodyPr spcFirstLastPara="1" wrap="square" lIns="91425" tIns="45700" rIns="91425" bIns="45700" anchor="ctr" anchorCtr="0">
            <a:noAutofit/>
          </a:bodyPr>
          <a:lstStyle/>
          <a:p>
            <a:pPr>
              <a:spcBef>
                <a:spcPts val="0"/>
              </a:spcBef>
            </a:pPr>
            <a:r>
              <a:rPr lang="en-IN" sz="3200" u="sng" dirty="0">
                <a:latin typeface="Consolas" panose="020B0609020204030204" pitchFamily="49" charset="0"/>
                <a:cs typeface="Consolas" panose="020B0609020204030204" pitchFamily="49" charset="0"/>
              </a:rPr>
              <a:t>Audio Based CAPTCHAs</a:t>
            </a:r>
            <a:endParaRPr lang="en-US" sz="3200" u="sng" dirty="0">
              <a:latin typeface="Consolas" panose="020B0609020204030204" pitchFamily="49" charset="0"/>
              <a:ea typeface="Consolas"/>
              <a:cs typeface="Consolas" panose="020B0609020204030204" pitchFamily="49" charset="0"/>
              <a:sym typeface="Consolas"/>
            </a:endParaRPr>
          </a:p>
        </p:txBody>
      </p:sp>
      <p:sp>
        <p:nvSpPr>
          <p:cNvPr id="68" name="Google Shape;68;p15"/>
          <p:cNvSpPr txBox="1">
            <a:spLocks noGrp="1"/>
          </p:cNvSpPr>
          <p:nvPr>
            <p:ph type="body" idx="1"/>
          </p:nvPr>
        </p:nvSpPr>
        <p:spPr>
          <a:xfrm>
            <a:off x="418011" y="650859"/>
            <a:ext cx="11845399" cy="1099564"/>
          </a:xfrm>
          <a:prstGeom prst="rect">
            <a:avLst/>
          </a:prstGeom>
        </p:spPr>
        <p:txBody>
          <a:bodyPr spcFirstLastPara="1" wrap="square" lIns="91425" tIns="45700" rIns="91425" bIns="45700" anchor="t" anchorCtr="0">
            <a:noAutofit/>
          </a:bodyPr>
          <a:lstStyle/>
          <a:p>
            <a:pPr marL="342900">
              <a:spcBef>
                <a:spcPts val="1600"/>
              </a:spcBef>
              <a:spcAft>
                <a:spcPts val="1600"/>
              </a:spcAft>
              <a:buClr>
                <a:schemeClr val="tx1"/>
              </a:buClr>
            </a:pPr>
            <a:r>
              <a:rPr lang="en-IN" dirty="0">
                <a:latin typeface="Consolas" panose="020B0609020204030204" pitchFamily="49" charset="0"/>
                <a:cs typeface="Consolas" panose="020B0609020204030204" pitchFamily="49" charset="0"/>
              </a:rPr>
              <a:t>Sound-based CAPTCHAs are Audio CAPTCHAs specially designed for visually impaired person. It contains audio clips that can be downloaded on the client-side.</a:t>
            </a:r>
          </a:p>
        </p:txBody>
      </p:sp>
    </p:spTree>
    <p:extLst>
      <p:ext uri="{BB962C8B-B14F-4D97-AF65-F5344CB8AC3E}">
        <p14:creationId xmlns:p14="http://schemas.microsoft.com/office/powerpoint/2010/main" val="5818647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1959</TotalTime>
  <Words>643</Words>
  <Application>Microsoft Macintosh PowerPoint</Application>
  <PresentationFormat>Widescreen</PresentationFormat>
  <Paragraphs>51</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Consolas</vt:lpstr>
      <vt:lpstr>Office Theme</vt:lpstr>
      <vt:lpstr>Seminar: CAPTCHA</vt:lpstr>
      <vt:lpstr>Introduction</vt:lpstr>
      <vt:lpstr>Introduction</vt:lpstr>
      <vt:lpstr>Introduction (History)</vt:lpstr>
      <vt:lpstr>Idea/Why? captcha</vt:lpstr>
      <vt:lpstr>Idea/Why? captcha</vt:lpstr>
      <vt:lpstr>Idea/Why? captcha</vt:lpstr>
      <vt:lpstr>APPLICATIONS/WHERE? CAPTCHA</vt:lpstr>
      <vt:lpstr>APPLICATIONS/WHERE? CAPTCHA</vt:lpstr>
      <vt:lpstr>APPLICATIONS/WHERE? CAPTCHA</vt:lpstr>
      <vt:lpstr>BYPASS CAPTCHA TEST/HOW? </vt:lpstr>
      <vt:lpstr>BYPASS CAPTCHA TEST/HOW? </vt:lpstr>
      <vt:lpstr>BYPASS CAPTCHA TEST/HOW? </vt:lpstr>
      <vt:lpstr>TYPES OF CAPTCHA </vt:lpstr>
      <vt:lpstr>Text Based CAPTCHAs</vt:lpstr>
      <vt:lpstr>Image Based CAPTCHAs</vt:lpstr>
      <vt:lpstr>Audio Based CAPTCHAs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RATHORE</dc:creator>
  <cp:lastModifiedBy>KARTHIKEYAN RATHORE</cp:lastModifiedBy>
  <cp:revision>48</cp:revision>
  <dcterms:created xsi:type="dcterms:W3CDTF">2022-03-24T09:06:47Z</dcterms:created>
  <dcterms:modified xsi:type="dcterms:W3CDTF">2022-03-25T17:47:26Z</dcterms:modified>
</cp:coreProperties>
</file>